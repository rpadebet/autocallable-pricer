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Padebettu" userId="b226531f5901c2da" providerId="LiveId" clId="{DB948B43-0225-4C5D-AC30-33E8C667AD1D}"/>
    <pc:docChg chg="custSel modSld">
      <pc:chgData name="Rohit Padebettu" userId="b226531f5901c2da" providerId="LiveId" clId="{DB948B43-0225-4C5D-AC30-33E8C667AD1D}" dt="2026-06-08T17:25:11.285" v="184" actId="14100"/>
      <pc:docMkLst>
        <pc:docMk/>
      </pc:docMkLst>
      <pc:sldChg chg="modSp mod">
        <pc:chgData name="Rohit Padebettu" userId="b226531f5901c2da" providerId="LiveId" clId="{DB948B43-0225-4C5D-AC30-33E8C667AD1D}" dt="2026-06-08T17:20:17.832" v="3" actId="20577"/>
        <pc:sldMkLst>
          <pc:docMk/>
          <pc:sldMk cId="0" sldId="257"/>
        </pc:sldMkLst>
        <pc:graphicFrameChg chg="modGraphic">
          <ac:chgData name="Rohit Padebettu" userId="b226531f5901c2da" providerId="LiveId" clId="{DB948B43-0225-4C5D-AC30-33E8C667AD1D}" dt="2026-06-08T17:20:17.832" v="3" actId="20577"/>
          <ac:graphicFrameMkLst>
            <pc:docMk/>
            <pc:sldMk cId="0" sldId="257"/>
            <ac:graphicFrameMk id="14" creationId="{00000000-0000-0000-0000-000000000000}"/>
          </ac:graphicFrameMkLst>
        </pc:graphicFrameChg>
      </pc:sldChg>
      <pc:sldChg chg="modSp mod">
        <pc:chgData name="Rohit Padebettu" userId="b226531f5901c2da" providerId="LiveId" clId="{DB948B43-0225-4C5D-AC30-33E8C667AD1D}" dt="2026-06-08T17:24:12.001" v="178" actId="20577"/>
        <pc:sldMkLst>
          <pc:docMk/>
          <pc:sldMk cId="0" sldId="260"/>
        </pc:sldMkLst>
        <pc:spChg chg="mod">
          <ac:chgData name="Rohit Padebettu" userId="b226531f5901c2da" providerId="LiveId" clId="{DB948B43-0225-4C5D-AC30-33E8C667AD1D}" dt="2026-06-08T17:21:19.768" v="43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ohit Padebettu" userId="b226531f5901c2da" providerId="LiveId" clId="{DB948B43-0225-4C5D-AC30-33E8C667AD1D}" dt="2026-06-08T17:24:12.001" v="178" actId="20577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Rohit Padebettu" userId="b226531f5901c2da" providerId="LiveId" clId="{DB948B43-0225-4C5D-AC30-33E8C667AD1D}" dt="2026-06-08T17:25:11.285" v="184" actId="14100"/>
        <pc:sldMkLst>
          <pc:docMk/>
          <pc:sldMk cId="0" sldId="261"/>
        </pc:sldMkLst>
        <pc:spChg chg="mod">
          <ac:chgData name="Rohit Padebettu" userId="b226531f5901c2da" providerId="LiveId" clId="{DB948B43-0225-4C5D-AC30-33E8C667AD1D}" dt="2026-06-08T17:24:43.048" v="180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Rohit Padebettu" userId="b226531f5901c2da" providerId="LiveId" clId="{DB948B43-0225-4C5D-AC30-33E8C667AD1D}" dt="2026-06-08T17:25:05.816" v="183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Rohit Padebettu" userId="b226531f5901c2da" providerId="LiveId" clId="{DB948B43-0225-4C5D-AC30-33E8C667AD1D}" dt="2026-06-08T17:24:55.784" v="181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ohit Padebettu" userId="b226531f5901c2da" providerId="LiveId" clId="{DB948B43-0225-4C5D-AC30-33E8C667AD1D}" dt="2026-06-08T17:25:11.285" v="184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ohit Padebettu" userId="b226531f5901c2da" providerId="LiveId" clId="{DB948B43-0225-4C5D-AC30-33E8C667AD1D}" dt="2026-06-08T17:24:37.226" v="179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ohit Padebettu" userId="b226531f5901c2da" providerId="LiveId" clId="{DB948B43-0225-4C5D-AC30-33E8C667AD1D}" dt="2026-06-08T17:25:01.259" v="182" actId="14100"/>
          <ac:spMkLst>
            <pc:docMk/>
            <pc:sldMk cId="0" sldId="261"/>
            <ac:spMk id="1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Knock-In Loss Zone</c:v>
                </c:pt>
              </c:strCache>
            </c:strRef>
          </c:tx>
          <c:spPr>
            <a:ln w="38100" cap="flat">
              <a:solidFill>
                <a:srgbClr val="D32F2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32F2F"/>
              </a:solidFill>
              <a:ln w="9525" cap="flat">
                <a:solidFill>
                  <a:srgbClr val="D32F2F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50%</c:v>
                </c:pt>
                <c:pt idx="1">
                  <c:v>55%</c:v>
                </c:pt>
                <c:pt idx="2">
                  <c:v>60%</c:v>
                </c:pt>
                <c:pt idx="3">
                  <c:v>65%</c:v>
                </c:pt>
                <c:pt idx="4">
                  <c:v>70%</c:v>
                </c:pt>
                <c:pt idx="5">
                  <c:v>74%</c:v>
                </c:pt>
                <c:pt idx="6">
                  <c:v>75%</c:v>
                </c:pt>
                <c:pt idx="7">
                  <c:v>76%</c:v>
                </c:pt>
                <c:pt idx="8">
                  <c:v>80%</c:v>
                </c:pt>
                <c:pt idx="9">
                  <c:v>85%</c:v>
                </c:pt>
                <c:pt idx="10">
                  <c:v>90%</c:v>
                </c:pt>
                <c:pt idx="11">
                  <c:v>95%</c:v>
                </c:pt>
                <c:pt idx="12">
                  <c:v>100%</c:v>
                </c:pt>
                <c:pt idx="13">
                  <c:v>105%</c:v>
                </c:pt>
                <c:pt idx="14">
                  <c:v>110%</c:v>
                </c:pt>
                <c:pt idx="15">
                  <c:v>115%</c:v>
                </c:pt>
                <c:pt idx="16">
                  <c:v>120%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500</c:v>
                </c:pt>
                <c:pt idx="1">
                  <c:v>550</c:v>
                </c:pt>
                <c:pt idx="2">
                  <c:v>600</c:v>
                </c:pt>
                <c:pt idx="3">
                  <c:v>650</c:v>
                </c:pt>
                <c:pt idx="4">
                  <c:v>700</c:v>
                </c:pt>
                <c:pt idx="5">
                  <c:v>740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C4-4C21-8F62-C6F623547E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Capital Protection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50%</c:v>
                </c:pt>
                <c:pt idx="1">
                  <c:v>55%</c:v>
                </c:pt>
                <c:pt idx="2">
                  <c:v>60%</c:v>
                </c:pt>
                <c:pt idx="3">
                  <c:v>65%</c:v>
                </c:pt>
                <c:pt idx="4">
                  <c:v>70%</c:v>
                </c:pt>
                <c:pt idx="5">
                  <c:v>74%</c:v>
                </c:pt>
                <c:pt idx="6">
                  <c:v>75%</c:v>
                </c:pt>
                <c:pt idx="7">
                  <c:v>76%</c:v>
                </c:pt>
                <c:pt idx="8">
                  <c:v>80%</c:v>
                </c:pt>
                <c:pt idx="9">
                  <c:v>85%</c:v>
                </c:pt>
                <c:pt idx="10">
                  <c:v>90%</c:v>
                </c:pt>
                <c:pt idx="11">
                  <c:v>95%</c:v>
                </c:pt>
                <c:pt idx="12">
                  <c:v>100%</c:v>
                </c:pt>
                <c:pt idx="13">
                  <c:v>105%</c:v>
                </c:pt>
                <c:pt idx="14">
                  <c:v>110%</c:v>
                </c:pt>
                <c:pt idx="15">
                  <c:v>115%</c:v>
                </c:pt>
                <c:pt idx="16">
                  <c:v>120%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6">
                  <c:v>1000</c:v>
                </c:pt>
                <c:pt idx="7">
                  <c:v>1000</c:v>
                </c:pt>
                <c:pt idx="8">
                  <c:v>1000</c:v>
                </c:pt>
                <c:pt idx="9">
                  <c:v>1000</c:v>
                </c:pt>
                <c:pt idx="10">
                  <c:v>1000</c:v>
                </c:pt>
                <c:pt idx="11">
                  <c:v>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C4-4C21-8F62-C6F623547E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Autocall + Coupon</c:v>
                </c:pt>
              </c:strCache>
            </c:strRef>
          </c:tx>
          <c:spPr>
            <a:ln w="38100" cap="flat">
              <a:solidFill>
                <a:srgbClr val="388E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8E3C"/>
              </a:solidFill>
              <a:ln w="9525" cap="flat">
                <a:solidFill>
                  <a:srgbClr val="388E3C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50%</c:v>
                </c:pt>
                <c:pt idx="1">
                  <c:v>55%</c:v>
                </c:pt>
                <c:pt idx="2">
                  <c:v>60%</c:v>
                </c:pt>
                <c:pt idx="3">
                  <c:v>65%</c:v>
                </c:pt>
                <c:pt idx="4">
                  <c:v>70%</c:v>
                </c:pt>
                <c:pt idx="5">
                  <c:v>74%</c:v>
                </c:pt>
                <c:pt idx="6">
                  <c:v>75%</c:v>
                </c:pt>
                <c:pt idx="7">
                  <c:v>76%</c:v>
                </c:pt>
                <c:pt idx="8">
                  <c:v>80%</c:v>
                </c:pt>
                <c:pt idx="9">
                  <c:v>85%</c:v>
                </c:pt>
                <c:pt idx="10">
                  <c:v>90%</c:v>
                </c:pt>
                <c:pt idx="11">
                  <c:v>95%</c:v>
                </c:pt>
                <c:pt idx="12">
                  <c:v>100%</c:v>
                </c:pt>
                <c:pt idx="13">
                  <c:v>105%</c:v>
                </c:pt>
                <c:pt idx="14">
                  <c:v>110%</c:v>
                </c:pt>
                <c:pt idx="15">
                  <c:v>115%</c:v>
                </c:pt>
                <c:pt idx="16">
                  <c:v>120%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12">
                  <c:v>1080</c:v>
                </c:pt>
                <c:pt idx="13">
                  <c:v>1080</c:v>
                </c:pt>
                <c:pt idx="14">
                  <c:v>1080</c:v>
                </c:pt>
                <c:pt idx="15">
                  <c:v>1080</c:v>
                </c:pt>
                <c:pt idx="16">
                  <c:v>1080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C4-4C21-8F62-C6F623547E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SPX at Maturity (% of Initial)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"/>
          <c:min val="4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Payoff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MC (upper CI)</c:v>
                </c:pt>
              </c:strCache>
            </c:strRef>
          </c:tx>
          <c:spPr>
            <a:ln w="25400" cap="flat">
              <a:solidFill>
                <a:srgbClr val="D32F2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32F2F"/>
              </a:solidFill>
              <a:ln w="9525" cap="flat">
                <a:solidFill>
                  <a:srgbClr val="D32F2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1K</c:v>
                </c:pt>
                <c:pt idx="1">
                  <c:v>2K</c:v>
                </c:pt>
                <c:pt idx="2">
                  <c:v>5K</c:v>
                </c:pt>
                <c:pt idx="3">
                  <c:v>10K</c:v>
                </c:pt>
                <c:pt idx="4">
                  <c:v>25K</c:v>
                </c:pt>
                <c:pt idx="5">
                  <c:v>50K</c:v>
                </c:pt>
                <c:pt idx="6">
                  <c:v>100K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965.5</c:v>
                </c:pt>
                <c:pt idx="1">
                  <c:v>960.8</c:v>
                </c:pt>
                <c:pt idx="2">
                  <c:v>954.5</c:v>
                </c:pt>
                <c:pt idx="3">
                  <c:v>952.1</c:v>
                </c:pt>
                <c:pt idx="4">
                  <c:v>951</c:v>
                </c:pt>
                <c:pt idx="5">
                  <c:v>950.6</c:v>
                </c:pt>
                <c:pt idx="6">
                  <c:v>950.3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73-48D7-AC21-332E58FB9A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 MC (price)</c:v>
                </c:pt>
              </c:strCache>
            </c:strRef>
          </c:tx>
          <c:spPr>
            <a:ln w="25400" cap="flat">
              <a:solidFill>
                <a:srgbClr val="D32F2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32F2F"/>
              </a:solidFill>
              <a:ln w="9525" cap="flat">
                <a:solidFill>
                  <a:srgbClr val="D32F2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1K</c:v>
                </c:pt>
                <c:pt idx="1">
                  <c:v>2K</c:v>
                </c:pt>
                <c:pt idx="2">
                  <c:v>5K</c:v>
                </c:pt>
                <c:pt idx="3">
                  <c:v>10K</c:v>
                </c:pt>
                <c:pt idx="4">
                  <c:v>25K</c:v>
                </c:pt>
                <c:pt idx="5">
                  <c:v>50K</c:v>
                </c:pt>
                <c:pt idx="6">
                  <c:v>100K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955.2</c:v>
                </c:pt>
                <c:pt idx="1">
                  <c:v>952.8</c:v>
                </c:pt>
                <c:pt idx="2">
                  <c:v>951.1</c:v>
                </c:pt>
                <c:pt idx="3">
                  <c:v>950.4</c:v>
                </c:pt>
                <c:pt idx="4">
                  <c:v>950.1</c:v>
                </c:pt>
                <c:pt idx="5">
                  <c:v>950</c:v>
                </c:pt>
                <c:pt idx="6">
                  <c:v>950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73-48D7-AC21-332E58FB9A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Standard MC (lower CI)</c:v>
                </c:pt>
              </c:strCache>
            </c:strRef>
          </c:tx>
          <c:spPr>
            <a:ln w="25400" cap="flat">
              <a:solidFill>
                <a:srgbClr val="D32F2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32F2F"/>
              </a:solidFill>
              <a:ln w="9525" cap="flat">
                <a:solidFill>
                  <a:srgbClr val="D32F2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1K</c:v>
                </c:pt>
                <c:pt idx="1">
                  <c:v>2K</c:v>
                </c:pt>
                <c:pt idx="2">
                  <c:v>5K</c:v>
                </c:pt>
                <c:pt idx="3">
                  <c:v>10K</c:v>
                </c:pt>
                <c:pt idx="4">
                  <c:v>25K</c:v>
                </c:pt>
                <c:pt idx="5">
                  <c:v>50K</c:v>
                </c:pt>
                <c:pt idx="6">
                  <c:v>100K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944.9</c:v>
                </c:pt>
                <c:pt idx="1">
                  <c:v>944.8</c:v>
                </c:pt>
                <c:pt idx="2">
                  <c:v>947.7</c:v>
                </c:pt>
                <c:pt idx="3">
                  <c:v>948.7</c:v>
                </c:pt>
                <c:pt idx="4">
                  <c:v>949.2</c:v>
                </c:pt>
                <c:pt idx="5">
                  <c:v>949.4</c:v>
                </c:pt>
                <c:pt idx="6">
                  <c:v>949.7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73-48D7-AC21-332E58FB9AD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Survival MC (upper CI)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1K</c:v>
                </c:pt>
                <c:pt idx="1">
                  <c:v>2K</c:v>
                </c:pt>
                <c:pt idx="2">
                  <c:v>5K</c:v>
                </c:pt>
                <c:pt idx="3">
                  <c:v>10K</c:v>
                </c:pt>
                <c:pt idx="4">
                  <c:v>25K</c:v>
                </c:pt>
                <c:pt idx="5">
                  <c:v>50K</c:v>
                </c:pt>
                <c:pt idx="6">
                  <c:v>100K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955.4</c:v>
                </c:pt>
                <c:pt idx="1">
                  <c:v>952.9</c:v>
                </c:pt>
                <c:pt idx="2">
                  <c:v>951.4</c:v>
                </c:pt>
                <c:pt idx="3">
                  <c:v>950.7</c:v>
                </c:pt>
                <c:pt idx="4">
                  <c:v>950.3</c:v>
                </c:pt>
                <c:pt idx="5">
                  <c:v>950.2</c:v>
                </c:pt>
                <c:pt idx="6">
                  <c:v>950.1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373-48D7-AC21-332E58FB9AD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Survival MC (price)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1K</c:v>
                </c:pt>
                <c:pt idx="1">
                  <c:v>2K</c:v>
                </c:pt>
                <c:pt idx="2">
                  <c:v>5K</c:v>
                </c:pt>
                <c:pt idx="3">
                  <c:v>10K</c:v>
                </c:pt>
                <c:pt idx="4">
                  <c:v>25K</c:v>
                </c:pt>
                <c:pt idx="5">
                  <c:v>50K</c:v>
                </c:pt>
                <c:pt idx="6">
                  <c:v>100K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951.2</c:v>
                </c:pt>
                <c:pt idx="1">
                  <c:v>950.6</c:v>
                </c:pt>
                <c:pt idx="2">
                  <c:v>950.2</c:v>
                </c:pt>
                <c:pt idx="3">
                  <c:v>950</c:v>
                </c:pt>
                <c:pt idx="4">
                  <c:v>950</c:v>
                </c:pt>
                <c:pt idx="5">
                  <c:v>950</c:v>
                </c:pt>
                <c:pt idx="6">
                  <c:v>950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373-48D7-AC21-332E58FB9AD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Survival MC (lower CI)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1K</c:v>
                </c:pt>
                <c:pt idx="1">
                  <c:v>2K</c:v>
                </c:pt>
                <c:pt idx="2">
                  <c:v>5K</c:v>
                </c:pt>
                <c:pt idx="3">
                  <c:v>10K</c:v>
                </c:pt>
                <c:pt idx="4">
                  <c:v>25K</c:v>
                </c:pt>
                <c:pt idx="5">
                  <c:v>50K</c:v>
                </c:pt>
                <c:pt idx="6">
                  <c:v>100K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947</c:v>
                </c:pt>
                <c:pt idx="1">
                  <c:v>948.3</c:v>
                </c:pt>
                <c:pt idx="2">
                  <c:v>949</c:v>
                </c:pt>
                <c:pt idx="3">
                  <c:v>949.3</c:v>
                </c:pt>
                <c:pt idx="4">
                  <c:v>949.7</c:v>
                </c:pt>
                <c:pt idx="5">
                  <c:v>949.8</c:v>
                </c:pt>
                <c:pt idx="6">
                  <c:v>949.9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373-48D7-AC21-332E58FB9A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Number of Paths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70"/>
          <c:min val="9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Price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P(Call at this date | not called earlier)</c:v>
                </c:pt>
              </c:strCache>
            </c:strRef>
          </c:tx>
          <c:spPr>
            <a:solidFill>
              <a:srgbClr val="1A23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Q1 (3m)</c:v>
                </c:pt>
                <c:pt idx="1">
                  <c:v>Q2 (6m)</c:v>
                </c:pt>
                <c:pt idx="2">
                  <c:v>Q3 (9m)</c:v>
                </c:pt>
                <c:pt idx="3">
                  <c:v>Q4 (12m)</c:v>
                </c:pt>
                <c:pt idx="4">
                  <c:v>Q5 (15m)</c:v>
                </c:pt>
                <c:pt idx="5">
                  <c:v>Q6 (18m)</c:v>
                </c:pt>
                <c:pt idx="6">
                  <c:v>Q7 (21m)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34.200000000000003</c:v>
                </c:pt>
                <c:pt idx="1">
                  <c:v>13.8</c:v>
                </c:pt>
                <c:pt idx="2">
                  <c:v>7.9</c:v>
                </c:pt>
                <c:pt idx="3">
                  <c:v>5.0999999999999996</c:v>
                </c:pt>
                <c:pt idx="4">
                  <c:v>3.6</c:v>
                </c:pt>
                <c:pt idx="5">
                  <c:v>2.6</c:v>
                </c:pt>
                <c:pt idx="6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F3-4685-9E7A-29F3A3D05D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Observation Date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Probability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50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AutoCallable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Platform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Risk Analysis for Structured Products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325880" cy="292608"/>
          </a:xfrm>
          <a:prstGeom prst="rect">
            <a:avLst/>
          </a:prstGeom>
          <a:solidFill>
            <a:srgbClr val="263D6E"/>
          </a:solidFill>
          <a:ln w="12700">
            <a:solidFill>
              <a:srgbClr val="4C6E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74520" y="3017520"/>
            <a:ext cx="1325880" cy="292608"/>
          </a:xfrm>
          <a:prstGeom prst="rect">
            <a:avLst/>
          </a:prstGeom>
          <a:solidFill>
            <a:srgbClr val="263D6E"/>
          </a:solidFill>
          <a:ln w="12700">
            <a:solidFill>
              <a:srgbClr val="4C6E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4520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Difference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3017520"/>
            <a:ext cx="1325880" cy="292608"/>
          </a:xfrm>
          <a:prstGeom prst="rect">
            <a:avLst/>
          </a:prstGeom>
          <a:solidFill>
            <a:srgbClr val="263D6E"/>
          </a:solidFill>
          <a:ln w="12700">
            <a:solidFill>
              <a:srgbClr val="4C6E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Heston Calibration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3017520"/>
            <a:ext cx="1325880" cy="292608"/>
          </a:xfrm>
          <a:prstGeom prst="rect">
            <a:avLst/>
          </a:prstGeom>
          <a:solidFill>
            <a:srgbClr val="263D6E"/>
          </a:solidFill>
          <a:ln w="12700">
            <a:solidFill>
              <a:srgbClr val="4C6E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Dupire Local Vol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Padebettu  ·  June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457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App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868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autocallable-pricer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.streamlit.app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737360"/>
            <a:ext cx="2286000" cy="384048"/>
          </a:xfrm>
          <a:prstGeom prst="rect">
            <a:avLst/>
          </a:prstGeom>
          <a:solidFill>
            <a:srgbClr val="1A2F6B"/>
          </a:solidFill>
          <a:ln w="12700">
            <a:solidFill>
              <a:srgbClr val="3D5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et al. (2011)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2240280"/>
            <a:ext cx="2286000" cy="384048"/>
          </a:xfrm>
          <a:prstGeom prst="rect">
            <a:avLst/>
          </a:prstGeom>
          <a:solidFill>
            <a:srgbClr val="1A2F6B"/>
          </a:solidFill>
          <a:ln w="12700">
            <a:solidFill>
              <a:srgbClr val="3D5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2240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Haugh (2013)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2743200"/>
            <a:ext cx="2286000" cy="384048"/>
          </a:xfrm>
          <a:prstGeom prst="rect">
            <a:avLst/>
          </a:prstGeom>
          <a:solidFill>
            <a:srgbClr val="1A2F6B"/>
          </a:solidFill>
          <a:ln w="12700">
            <a:solidFill>
              <a:srgbClr val="3D5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0" y="2743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et al. (2013)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AUTOCALLABLE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Autocallable?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64008" cy="3520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autocallable is a structured note tied to an index (e.g. the S&amp;P 500). At each observation date, if the index is above a barrier, the note redeems early and pays a coupon. If not, it continues.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possible outcomes at maturity: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call — index above barrier on any observation date. Investor receives notional + coupon.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protection — index below barrier but above the knock-in floor. Investor gets notional back, no coupon.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Knock-in loss — index breached the protection floor. Investor shares in the index's downside.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investors buy them? Autocallables offer significantly higher coupons than bonds in exchange for taking on downside exposure to equities.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86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64008" cy="3520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3898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 Autocall — Term Sheet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166420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throughout this presentation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01330"/>
              </p:ext>
            </p:extLst>
          </p:nvPr>
        </p:nvGraphicFramePr>
        <p:xfrm>
          <a:off x="5029200" y="1920240"/>
          <a:ext cx="3520440" cy="2651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(SPX)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(8 dates)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Barrier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of initial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p.a. (2% per quarter)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Knock-In 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Snapshot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6 2026 (SPX ≈ 7,400)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STRUCTURE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 Autocall — Payoff at Maturity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18872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188720"/>
            <a:ext cx="2880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1188720"/>
            <a:ext cx="6400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89320" y="1371600"/>
            <a:ext cx="109728" cy="82296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72200" y="13716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75%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72200" y="15544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Knock-In Loss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72200" y="179222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receives SPX return — full downside. A $1,000 note is worth $500 if SPX falls 50%.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9320" y="2450592"/>
            <a:ext cx="10972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72200" y="245059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– 100%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72200" y="263347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Protected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28712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SPX fell but stayed above the 75% floor. Investor gets $1,000 back. No coupon, but no loss.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9320" y="3529584"/>
            <a:ext cx="109728" cy="82296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72200" y="352958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100%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3712464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Autocall Triggered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72200" y="3950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SPX at or above barrier on a quarterly date. Investor receives $1,000 + 2% coupon per quarter elapsed.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S₀ = 5,600  ·  Call Barrier = 100%  ·  Knock-In = 75%  ·  Coupon = 8% p.a.  (payoff shown for year-2 maturity call)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Volatility Models — Why It Matters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Black-Scholes model assumes constant volatility — but real market option prices imply different vol at every strike and maturity. Autocallable barriers sit at specific strikes: using the wrong vol misprices the product.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64008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92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 Volatility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1671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6829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constant vol for all strikes and maturities. Fast, simple — but provably wrong. Sets the baseline for comparison.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46120" y="189280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892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Volatility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671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Dupire (1994)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36829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vol at each (price, time) point — derived from real market option prices. Matches every traded price by construction.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0" y="189280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Haugh (2013) Eq. 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329184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291840"/>
            <a:ext cx="64008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401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Heston Stoch. Vol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6758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Heston (1993)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87705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random: it has a mean level, a reversion speed, its own randomness (vol-of-vol), and correlation to the stock. Captures equity skew naturally.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46120" y="340156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Haugh (2013) Eq. 23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63440" y="329184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3401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Bates (Heston + Jumps)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6758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Heston + Merton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87705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occasional crash 'jumps' to Heston's stochastic vol. Fits the short-dated implied smile that Heston alone can struggle with.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0" y="340156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Haugh (2013) §4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SURFACE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Volatility Surface — What the App Shows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02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1344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Implied Vol Surface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73736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SPX options data filtered and plotted as an interactive 3D surface — moneyness × maturity × implied vol. Rotate it to see the equity skew in both dimensions. This is smoothened using cubic spline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64008" cy="1691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50292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40680" y="1344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Heston Model Overlay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'Calibrate Heston,' the 5-parameter Heston surface is overlaid on the market surface. Red patches show fit error. Calibration uses L-BFGS-B (~15–45 sec).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10896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5029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88720" y="32186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Dupire Local Vol Surface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implied vol surface via Dupire's formula. Looks flatter in the strike dimension — it accounts for future path dynamics, not just today's prices. The paper recommends to use SVI before differentiating, but the app uses cubic splines, to illustrate the noise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10896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64008" cy="1691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3246120"/>
            <a:ext cx="50292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40680" y="32186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611880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Heston, Merton, and Bates in sequence. RMSE table compares fit quality. Smile charts show which model fits each maturity best.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7548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SPX Options  ·  Jun 6 2026 22:38 (Market Close)  ·  ~1,400 option quotes  ·  Moneyness 0.80–1.20  ·  Maturities 1m–18m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FDM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Method 1 — Finite Difference (FDM)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5719" cy="25786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spreadsheet filled in from right to left.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exact payoff at maturity. The FDM starts there and works backwards through time — at each step computing what the note is worth one step earlier, given possible stock moves.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spot crosses the call barrier at an observation date, the boundary condition fires automatically — the note is marked called.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schemes: Explicit FD (simple) and Crank-Nicolson (more stable — blends current and next step).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Deng, Mallett, McCann (2011)  §2.2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39319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64008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389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Probability Term Structure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P(call at this date | not called earlier)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901952"/>
          <a:ext cx="3566160" cy="166421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983480" y="361188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Q5–Q7: 3.6%  ·  2.6%  ·  1.9%  ·  Cumulative ≈ 69%.  ~31% reach maturity.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3931920"/>
            <a:ext cx="8321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9768" y="3931920"/>
            <a:ext cx="45719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388620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FDM Visualization page — watch V(S, t) evolve backwards via heatmap and time-slice animation. Scheme Comparison tab benchmarks Explicit vs Crank-Nicolson: convergence as grid refines, stability, and timing per pricing call.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 σ = 18%  ·  r = 4.3%  ·  q = 1.5%  ·  S₀ = 5,600  ·  T = 2 yr  ·  Grid: 1,000 spatial × 500 time steps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MC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Method 2 — Monte Carlo Simulation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64008" cy="32461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Monte Carlo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thousands of SPX paths. For each path, check every observation date — if above the barrier, the note calls and pays the coupon. Average the discounted payoffs.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scales as 1/√N. At 1K paths: ±$4. At 100K paths: ±$0.40. Every 100× more paths buys only 10× more precision.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reduction: Antithetic variates pair each random path with its mirror, roughly halving the variance for free.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4297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Alm, Harrach, Harrach, Keller (2013)  Eq. 2.3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64008" cy="3246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389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One-Step Survival MC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randomly crossing the barrier, each path analytically computes the probability of crossing it at every step — and prices the autocall event without ever simulating a hit.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 tighter confidence bands at the same path count — because the payoff is a smooth, continuous function of the starting price.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Greeks: Delta and Vega are smooth and reliable — not noisy and sign-flipping as in standard MC. Usable for hedging.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42976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Alm, Harrach, Harrach, Keller (2013)  Algorithm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 Phoenix Autocall  ·  σ = 18%  ·  r = 4.3%  ·  q = 1.5%  ·  S₀ = 5,600  ·  N = 10,000 paths  ·  Antithetic: 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 Reduction — Survival vs Standard MC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188720"/>
          <a:ext cx="53949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18872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89320" y="1188720"/>
            <a:ext cx="64008" cy="3520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72200" y="1325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chart shows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764792"/>
            <a:ext cx="137160" cy="13716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82512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MC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wide band at low N. Needs ~50K+ paths to stabilize.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2200" y="2587752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82512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MC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band is 3–5× narrower at every N. Same accuracy with far fewer paths.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3410712"/>
            <a:ext cx="137160" cy="1371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82512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converge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same price (~$950). Difference is precision, not correctness.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4187952"/>
            <a:ext cx="23774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72200" y="4187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= 10,000 paths: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MC: ±$1.68  ·  Survival: ±$0.62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 Phoenix Autocall  ·  Flat vol σ = 18%  ·  r = 4.3%  ·  q = 1.5%  ·  S₀ = 5,600  ·  Antithetic: On  ·  Seed: 42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Results — All Methods, All Models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8321040" cy="13258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Vol (σ=18%)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Dupire Local Vol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Heston Stoch. Vol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Bates (Heston + Jumps)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FDM / PDE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$962 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$962 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MC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$958  ±$4.2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$944  ±$2.1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$949  ±$1.7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$936  ±$2.4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MC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$957  ±$1.1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$938  ±$0.8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$927  ±$0.6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$921  ±$1.0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26060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‡ FDM uses flat vol as proxy for Heston/Bates (full stochastic-vol PDE requires 2D S×v grid — future extension). ± = 95% confidence interval.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11480" y="2971800"/>
            <a:ext cx="26974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1480" y="2971800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7"/>
          <p:cNvSpPr/>
          <p:nvPr/>
        </p:nvSpPr>
        <p:spPr>
          <a:xfrm>
            <a:off x="59436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choice matters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34290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vol vs Bates can differ by $40+ on a $1,000 note — a 4% pricing gap. This is real model risk, not noise. The vol model is the biggest driver after the term sheet itself.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2971800"/>
            <a:ext cx="26974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46120" y="2971800"/>
            <a:ext cx="64008" cy="181051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2900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 reduction works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429000" y="34290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MC consistently beats Standard MC on precision at the same N. The ±$0.62 vs ±$1.68 intervals at 10K paths reflect 3–5× lower variance — by construction, not by luck.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971800"/>
            <a:ext cx="26974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80760" y="2971800"/>
            <a:ext cx="64008" cy="1810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Cross-validation confirms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63640" y="34290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same vol model (flat), FDM, Standard MC, and Survival MC all converge to ~$958. This confirms correctness — no single method is trusted blindly.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 Phoenix Autocall  ·  S₀ = 5,600  ·  r = 4.3%  ·  q = 1.5%  ·  N = 10,000 paths  ·  T = 2 yr  ·  Snapshot: Jun 6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PROBABILITIES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Probability by Observation Date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234440"/>
          <a:ext cx="52120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234440"/>
            <a:ext cx="2880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1234440"/>
            <a:ext cx="64008" cy="3520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1371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this chart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173736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is the probability of the note calling at exactly that date — conditional on not having called earlier.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~34% chance of calling at Q1 alone — the single most likely outcome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~69% cumulative early-call probability across all 7 dates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~31% chance of reaching maturity — where knock-in risk applies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term structure is the key output of the FDM analytical approach. It drives the product's effective duration and coupon yield.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 FDM analytical  ·  σ = 18%  ·  r = 4.3%  ·  q = 1.5%  ·  Call Barrier = 100%  ·  S₀ = 5,600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Features — Explore in the App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97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64008" cy="36118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6072" y="1344168"/>
            <a:ext cx="438912" cy="438912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37160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Greek Stability — Pg. 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0756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MC Delta near a barrier is unstable — tiny changes in bump size can flip the sign. Unusable for hedging.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9900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MC eliminates barrier crossings analytically. The payoff is smooth in S₀, so Delta and Vega are clean and monotone at every bump size.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9044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plots at 10 bump sizes × 8 random seeds. Standard MC is spiky. Survival MC is smooth every 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697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64008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10712" y="134416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0712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31920" y="137160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FDM Visualization (Page 3)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heatmap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20756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V(S,t) plotted as a 2D heatmap — stock on x-axis, time on y-axis, color = value. The autocall barrier appears as a sharp discontinuity edge.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27889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Time-slice animation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29900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slider sweeps the value function backwards from maturity (T) to today — you watch the algorithm work in real time.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29000" y="3703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comparison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9044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FD vs Crank-Nicolson: price convergence as grid refines, CFL stability behavior, and per-call timing benchmarks.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1234440"/>
            <a:ext cx="2697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0760" y="1234440"/>
            <a:ext cx="64008" cy="3611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45352" y="1344168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137160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Product Builder (Page 6)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own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20756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structure type (Phoenix, Step-Down, Digital), maturity, barriers, coupon, and observation frequency. All in one form.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27889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payoff preview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29900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diagram updates instantly as you change any parameter — no Run button needed.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3703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9044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the sidebar. The custom product immediately appears in the Pricer page and can be priced with all three methods.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Deng, Mallett, McCann (2011)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for autocallables. FDM on log-transformed heat equation. Closed-form continuous autocall. Call probability term structure.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1945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Haugh, Columbia IEOR (2013)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Heston characteristic function (Eq. 23 — branch-cut safe). Dupire local vol. Merton jump-diffusion. Bates model.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3017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Alm, Harrach, Harrach, Keller (2013)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32186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survival MC. GHK importance sampling. Variance reduction. Stable Greeks via barrier-free payoff construction.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005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931920" cy="23317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· SciPy · Pandas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scipy.optimize L-BFGS-B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Plotly (interactive)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Pre-collected SPX snapshots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 —  74 tests passing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0CA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Community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63D6E"/>
          </a:solidFill>
          <a:ln w="12700">
            <a:solidFill>
              <a:srgbClr val="4C6E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4087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737360" y="408736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https://autocallable-pricer-nk7zy5ayx9amw77jrnxkau.streamlit.app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43708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the Pricer page  ·  Select Phoenix Autocall  ·  Hit Run All Pricers  ·  Explore Vol Surface for Heston calibration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2279</Words>
  <Application>Microsoft Office PowerPoint</Application>
  <PresentationFormat>On-screen Show (16:9)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AutoCallable Analytics Platform</dc:title>
  <dc:subject>PptxGenJS Presentation</dc:subject>
  <dc:creator>Rohit Padebettu</dc:creator>
  <cp:lastModifiedBy>Rohit Padebettu</cp:lastModifiedBy>
  <cp:revision>1</cp:revision>
  <dcterms:created xsi:type="dcterms:W3CDTF">2026-06-08T16:38:26Z</dcterms:created>
  <dcterms:modified xsi:type="dcterms:W3CDTF">2026-06-08T17:25:16Z</dcterms:modified>
</cp:coreProperties>
</file>